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Universidad Nororiental Privada Gran Mariscal de Ayacucho</a:t>
            </a:r>
          </a:p>
          <a:p>
            <a:pPr algn="ctr"/>
            <a:r>
              <a:rPr sz="1200" b="0" i="0">
                <a:solidFill>
                  <a:srgbClr val="C09A4A"/>
                </a:solidFill>
                <a:latin typeface="Calibri"/>
              </a:rPr>
              <a:t>Escuela de Ingeniería en Informática — Núcleo Bolívar</a:t>
            </a:r>
          </a:p>
          <a:p>
            <a:pPr algn="ctr"/>
            <a:r>
              <a:rPr sz="1200" b="0" i="0">
                <a:solidFill>
                  <a:srgbClr val="C09A4A"/>
                </a:solidFill>
                <a:latin typeface="Calibri"/>
              </a:rPr>
              <a:t>Área de Conocimiento: Ingeniería de Software</a:t>
            </a:r>
          </a:p>
        </p:txBody>
      </p:sp>
      <p:sp>
        <p:nvSpPr>
          <p:cNvPr id="5" name="Oval 4"/>
          <p:cNvSpPr/>
          <p:nvPr/>
        </p:nvSpPr>
        <p:spPr>
          <a:xfrm>
            <a:off x="5550408" y="173736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23A6B"/>
                </a:solidFill>
                <a:latin typeface="Calibri"/>
              </a:rPr>
              <a:t>LOGO
UGMA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Sistema de Digitalización y Registro de Productos con Inteligencia Artificial para el Control de Inventarios</a:t>
            </a:r>
          </a:p>
          <a:p>
            <a:pPr algn="ctr"/>
            <a:r>
              <a:rPr sz="1500" b="0" i="0">
                <a:solidFill>
                  <a:srgbClr val="C09A4A"/>
                </a:solidFill>
                <a:latin typeface="Calibri"/>
              </a:rPr>
              <a:t>Bodegón Pa' Donde Natty C.A. — Ciudad Bolívar, estado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Trabajo Especial de Grado para optar al título de Ingeniero en Informática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Autor: Gabriel Riera — C.I.: V-31.153.478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Tutor Académico: Ing. Carlos Moreno</a:t>
            </a:r>
          </a:p>
          <a:p>
            <a:pPr algn="ctr"/>
            <a:r>
              <a:rPr sz="1200" b="0" i="0">
                <a:solidFill>
                  <a:srgbClr val="C09A4A"/>
                </a:solidFill>
                <a:latin typeface="Calibri"/>
              </a:rPr>
              <a:t>Ciudad Bolívar,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Introducción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Planteamiento del problema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Objetivos de la investigación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Justificación y alcance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Marco teórico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Metodología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Resultados (desarrollo de los objetivos específicos)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212933"/>
                </a:solidFill>
                <a:latin typeface="Calibri"/>
              </a:rPr>
              <a:t>•  Conclusiones y recomendaciones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La gestión eficiente del inventario es clave para la competitividad de las empresas comerciales.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La transformación digital y la Inteligencia Artificial permiten optimizar procesos y decisiones en tiempo real.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En Venezuela, muchas pymes y bodegas aún dependen de registros manuales o desactualizados.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El Bodegón Pa' Donde Natty C.A. (Ciudad Bolívar) controla su inventario de forma manual: conteos en papel y hojas de cálculo no integradas.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Este trabajo propone un prototipo que digitaliza el registro de productos usando un modelo de IA multimodal que reconoce el producto a partir de una foto.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El control de existencias es manual: conteos físicos, apuntes en papel y hojas de cálculo no sincronizadas.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800" b="1" i="0">
                <a:solidFill>
                  <a:srgbClr val="123A6B"/>
                </a:solidFill>
                <a:latin typeface="Calibri"/>
              </a:rPr>
              <a:t>Errores recurrentes detectados: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53606E"/>
                </a:solidFill>
                <a:latin typeface="Calibri"/>
              </a:rPr>
              <a:t>–  Discrepancia entre el inventario físico y el registrado.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53606E"/>
                </a:solidFill>
                <a:latin typeface="Calibri"/>
              </a:rPr>
              <a:t>–  Desabastecimiento de productos de alta rotación.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53606E"/>
                </a:solidFill>
                <a:latin typeface="Calibri"/>
              </a:rPr>
              <a:t>–  Pérdidas por vencimiento no detectado a tiempo.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53606E"/>
                </a:solidFill>
                <a:latin typeface="Calibri"/>
              </a:rPr>
              <a:t>–  Duplicidad de registros y retardo en la reposición.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Consecuencia: imposibilidad de una gestión dinámica y confiable, con pérdidas económicas evitables.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12933"/>
                </a:solidFill>
                <a:latin typeface="Calibri"/>
              </a:rPr>
              <a:t>•  Pregunta central: ¿cómo lograr un registro de inventario exacto y en tiempo real apoyado en 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Objetivos de la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23A6B"/>
                </a:solidFill>
                <a:latin typeface="Calibri"/>
              </a:rPr>
              <a:t>Objetivo General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Desarrollar un prototipo funcional de un sistema de digitalización y registro de productos con IA para el control de inventarios en el Bodegón Pa' Donde Natty C.A.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23A6B"/>
                </a:solidFill>
                <a:latin typeface="Calibri"/>
              </a:rPr>
              <a:t>Objetivos Específicos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1. Diagnosticar las necesidades funcionales y técnicas del proceso actual de inventario.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2. Diseñar la arquitectura, el modelo de datos y la interfaz (consolidados en una SRS).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3. Desarrollar el prototipo integrando el reconocimiento mediante la API de un modelo multimodal.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4. Validar el funcionamiento del prototipo mediante pruebas en un entorno controlado.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Justificación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123A6B"/>
                </a:solidFill>
                <a:latin typeface="Calibri"/>
              </a:rPr>
              <a:t>Justificación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Tecnológica: moderniza la operación integrando IA accesible (sin entrenar un modelo propio).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Empresarial: ataca la causa raíz (falta de registro centralizado y oportuno) y reduce pérdidas.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Académica/social: modelo replicable para otras pymes del sector comercial del estado Bolívar.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123A6B"/>
                </a:solidFill>
                <a:latin typeface="Calibri"/>
              </a:rPr>
              <a:t>Alcance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Prototipo funcional con módulos de reconocimiento IA, registro de movimientos, alertas, consulta, reportes, catálogo, autenticación, dashboard y respaldo.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Validado en entorno controlado; desplegado en capa gratuita (no implantación definitiva en la operación real).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Marco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Antecedente más relevante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Wong Portillo, De la Torre y Reyes (2023, UPC, Perú): «Aplicación de reconocimiento de imágenes para productos en el sector retail».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53606E"/>
                </a:solidFill>
                <a:latin typeface="Calibri"/>
              </a:rPr>
              <a:t>–  Demostraron la viabilidad de reconocer productos por imagen (modelos YOLO). Aporte: este trabajo logra el mismo fin con un modelo multimodal vía API, sin entrenar un modelo propio.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Términos clave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Control de inventarios: supervisión y registro de existencias para garantizar disponibilidad minimizando costos.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Inteligencia Artificial / aprendizaje automático: sistemas que aprenden de datos y reconocen patrones.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Modelo de lenguaje multimodal: IA que relaciona texto e imagen y responde en lenguaje natural.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Reconocimiento de imágenes: identificación del contenido de una imagen (aquí, el producto).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API e ingeniería de prompts: consumo de un servicio de IA externo guiado por una instrucción bien diseñada.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Metodología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OBJETIVOS 1 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Tipo y diseño de la investigación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Tipo: Descriptiva, Aplicada y Proyectiva (propone, desarrolla y valida una solución).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Diseño: de Campo (datos tomados en la empresa) con componente Documental; no experimental.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Población y muestra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Población: 5 trabajadores del bodegón vinculados al inventario.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Muestra: censo poblacional (los 5 trabajadores), por ser población finita y reducida.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Técnicas de recolección de datos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Encuesta (cuestionario), observación directa y entrevista, análisis documental (SRS / MTR), y pruebas de software (lista de cotejo).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Metodología (2/3) — Análisis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Diagnóstico (Obj. 1): estadística descriptiva (frecuencias y porcentajes) sobre el cuestionario, triangulada con observación y entrevista.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Diseño (Obj. 2): análisis documental de la SRS y verificación con la Matriz de Trazabilidad de Requisitos (cobertura, acoplamiento, normalización 3FN).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Desarrollo (Obj. 3): observación sistemática del porcentaje de módulos construidos y de la integración correcta de la API de IA.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Validación (Obj. 4): pruebas de caja negra y lista de cotejo (Cumple / No cumple); medición de exactitud y tiempo de respuesta del reconocimiento.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Metodología (3/3) — Operacionalización de la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Variable: prototipo de sistema de digitalización y registro de productos con IA para el control de inventarios.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1 — Dim. Operativa: errores de registro, tiempo por ciclo, necesidades priorizadas → Encuesta/Observación/Entrevista.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2 — Dim. Técnica (diseño): acoplamiento, normalización 3FN, cobertura de la SRS → Análisis documental / MTR.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3 — Dim. Funcional: % de módulos, integración de la API, efectividad del reconocimiento → Kanban / Observación.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4 — Dim. Validación: tasa de cumplimiento, exactitud ≥ 90 %, tiempo ≤ 3 s → Pruebas de caja negra / Lista de cotejo.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1: Diagnóstico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Proceso actual: control manual, sin registro centralizado ni actualización en tiempo real.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23A6B"/>
                </a:solidFill>
                <a:latin typeface="Calibri"/>
              </a:rPr>
              <a:t>Frecuencia de errores (censo de 5 trabajadores):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53606E"/>
                </a:solidFill>
                <a:latin typeface="Calibri"/>
              </a:rPr>
              <a:t>–  Discrepancia físico vs. registrado: 100 %.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53606E"/>
                </a:solidFill>
                <a:latin typeface="Calibri"/>
              </a:rPr>
              <a:t>–  Desabastecimiento de alta rotación: 80 %  ·  Pérdidas por vencimiento: 80 %.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53606E"/>
                </a:solidFill>
                <a:latin typeface="Calibri"/>
              </a:rPr>
              <a:t>–  Duplicidad de registros: 60 %  ·  Retardo en reposición: 60 %.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Tiempo del ciclo de inventario manual: 4 a 6 horas, con la operación parcialmente interrumpida.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1: Requerimientos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El diagnóstico se consolidó en requerimientos formales y verificables: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123A6B"/>
                </a:solidFill>
                <a:latin typeface="Calibri"/>
              </a:rPr>
              <a:t>9 Requerimientos Funcionales (RF-01 a RF-09)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53606E"/>
                </a:solidFill>
                <a:latin typeface="Calibri"/>
              </a:rPr>
              <a:t>–  Reconocimiento IA por foto (QR), movimientos, alertas, consulta, reportes, catálogo, autenticación, dashboard y respaldo.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123A6B"/>
                </a:solidFill>
                <a:latin typeface="Calibri"/>
              </a:rPr>
              <a:t>7 Requerimientos Técnicos (RT-01 a RT-07)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53606E"/>
                </a:solidFill>
                <a:latin typeface="Calibri"/>
              </a:rPr>
              <a:t>–  Backend Python/FastAPI + IA por API; BD PostgreSQL/Supabase; reconocimiento ≤ 3 s; exactitud ≥ 90 %; web + QR; respaldo; despliegue en capa gratuita.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2: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Arquitectura modular de 3 capas con bajo acoplamiento: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53606E"/>
                </a:solidFill>
                <a:latin typeface="Calibri"/>
              </a:rPr>
              <a:t>–  Presentación (Next.js, PC + móvil) → Lógica de negocio (FastAPI + cliente de IA) → Persistencia (PostgreSQL/Supabase).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Modelo de datos normalizado a 3FN; el stock es un dato derivado y auditable de los movimientos.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Matriz de Trazabilidad (MTR): cobertura del 100 % (9/9 RF), sin requerimientos huérfanos.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840480" cy="22860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23A6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53606E"/>
                </a:solidFill>
                <a:latin typeface="Calibri"/>
              </a:rPr>
              <a:t>🖼  Insertar: diagrama de
arquitectura / ERD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3: Desarrollo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Construidos los 9 módulos del diseño (metodología Kanban).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Stack: Python/FastAPI · Next.js · PostgreSQL/Supabase · Google Gemini (multimodal).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Flujo estrella (RF-01): la PC genera un QR → el teléfono toma la foto → la IA reconoce el producto → se registra el movimiento y se refleja en la PC.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Integración por API y prompt estructurado: respuesta directamente procesable por la lógica de inventario.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840480"/>
            <a:ext cx="3657600" cy="219456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23A6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53606E"/>
                </a:solidFill>
                <a:latin typeface="Calibri"/>
              </a:rPr>
              <a:t>🖼  Insertar capturas:
QR + captura móvil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3: Reconocimiento por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Se delega la visión en un modelo multimodal de propósito general (no se entrena un modelo propio).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123A6B"/>
                </a:solidFill>
                <a:latin typeface="Calibri"/>
              </a:rPr>
              <a:t>Desempeño medido sobre 100 imágenes de 20 productos distintos: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53606E"/>
                </a:solidFill>
                <a:latin typeface="Calibri"/>
              </a:rPr>
              <a:t>–  Exactitud del reconocimiento: 93 %  (supera el umbral RT-04 ≥ 90 %).</a:t>
            </a:r>
          </a:p>
          <a:p>
            <a:pPr algn="l"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53606E"/>
                </a:solidFill>
                <a:latin typeface="Calibri"/>
              </a:rPr>
              <a:t>–  Tiempo de respuesta promedio: 2,4 s  (cumple RT-03 ≤ 3 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Decisión de diseño validada: menor costo y complejidad que entrenar un modelo propio (vs. Wong Portillo et al., 2023).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3566160" cy="2103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123A6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53606E"/>
                </a:solidFill>
                <a:latin typeface="Calibri"/>
              </a:rPr>
              <a:t>🖼  Insertar captura:
pantalla de reconocimiento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Obj. 4: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OBJETIVO ESPECÍFICO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Pruebas de caja negra + lista de cotejo sobre cada requerimiento funcional.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Tasa de cumplimiento de requisitos funcionales: 100 % (9/9 «Cumple»).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Exactitud del reconocimiento: 93 %  ·  Tiempo de respuesta: 2,4 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Registro automatizado sin discrepancias frente a los casos verificados manualmente (margen de error nulo).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Cada error diagnosticado tiene hoy un requerimiento que lo combate, un componente que lo implementa y una prueba que lo confirma.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Resultados — Factibilidad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9A4A"/>
                </a:solidFill>
                <a:latin typeface="Calibri"/>
              </a:rPr>
              <a:t>COMPLEMENTARIO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Técnica: herramientas de código abierto y despliegue en capa gratuita (Vercel, Render/HF, Supabase); desempeño verificado (93 % / 2,4 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Operativa: interfaz sencilla y consistente; sustituye un proceso de 4–6 h por un registro asistido por imagen (curva de aprendizaje corta).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12933"/>
                </a:solidFill>
                <a:latin typeface="Calibri"/>
              </a:rPr>
              <a:t>•  Económica: inversión estimada ≈ 1.150 USD, recuperable a corto plazo frente al ahorro por menos pérdidas y errores.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1: el diagnóstico (triangulado) confirmó la discrepancia del 100 % y ciclos de 4–6 h; se consolidó en 9 RF y 7 RT verificables.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2: la arquitectura de 3 capas (bajo acoplamiento), el modelo 3FN y la MTR al 100 % cubren íntegramente las necesidades.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3: se desarrollaron los 9 módulos; el reconocimiento por API alcanzó 93 % de exactitud y 2,4 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Obj. 4: validación con 100 % de cumplimiento y margen de error nulo en el registro automatizado.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212933"/>
                </a:solidFill>
                <a:latin typeface="Calibri"/>
              </a:rPr>
              <a:t>•  General: integrar un modelo multimodal vía API es una alternativa viable, accesible y eficaz para digitalizar el inventario de pymes comerciales.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A la empresa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Implementar de forma gradual (empezando por una categoría) y capacitar al personal en la captura por QR.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Política de respaldos y auditoría periódica físico vs. registrado.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Técnicas / continuidad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Refinar el prompt con los casos no reconocidos (7 % restante) y añadir caché de productos frecuentes.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Incorporar un módulo de auditoría (usuario, fecha y hora de cada movimiento).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23A6B"/>
                </a:solidFill>
                <a:latin typeface="Calibri"/>
              </a:rPr>
              <a:t>Investigaciones futuras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12933"/>
                </a:solidFill>
                <a:latin typeface="Calibri"/>
              </a:rPr>
              <a:t>•  Predicción de demanda con aprendizaje automático; facturación/contabilidad; replicar el estudio en otras pymes.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3606E"/>
                </a:solidFill>
                <a:latin typeface="Calibri"/>
              </a:rPr>
              <a:t>Defensa TEG · Gabriel Riera · UGMA Núcleo Bolívar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3A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C0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«La tecnología no reemplaza el esfuerzo humano: lo potencia.</a:t>
            </a:r>
          </a:p>
          <a:p>
            <a:pPr algn="ctr"/>
            <a:r>
              <a:rPr sz="2000" b="1" i="0">
                <a:solidFill>
                  <a:srgbClr val="C09A4A"/>
                </a:solidFill>
                <a:latin typeface="Calibri"/>
              </a:rPr>
              <a:t>Digitalizar es dar el primer paso hacia un negocio más justo, preciso y competitivo.»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
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